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Istanbul Metrobus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0B4D8"/>
                </a:solidFill>
              </a:rPr>
              <a:t>Analytical Station-Slot Control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88920"/>
            <a:ext cx="45720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017520"/>
            <a:ext cx="1737360" cy="502920"/>
          </a:xfrm>
          <a:prstGeom prst="rect">
            <a:avLst/>
          </a:prstGeom>
          <a:solidFill>
            <a:srgbClr val="1A2A45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0E0EF"/>
                </a:solidFill>
              </a:rPr>
              <a:t>52 km Corridor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3017520"/>
            <a:ext cx="1737360" cy="502920"/>
          </a:xfrm>
          <a:prstGeom prst="rect">
            <a:avLst/>
          </a:prstGeom>
          <a:solidFill>
            <a:srgbClr val="1A2A45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0E0EF"/>
                </a:solidFill>
              </a:rPr>
              <a:t>45 Stations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3017520"/>
            <a:ext cx="1737360" cy="502920"/>
          </a:xfrm>
          <a:prstGeom prst="rect">
            <a:avLst/>
          </a:prstGeom>
          <a:solidFill>
            <a:srgbClr val="1A2A45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0E0EF"/>
                </a:solidFill>
              </a:rPr>
              <a:t>Real-Time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CC"/>
                </a:solidFill>
              </a:rPr>
              <a:t>SmartStop · HeadwayModel · StopInterface · ControlMerger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5303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5120640" cy="438912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76F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Bus bunching: vehicles cluster, leaving large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800,000+ daily passengers on 52 km corridor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7121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Traditional headway control treats the symptom,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38144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  not the root 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0507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Station platform overflow cascades through the fleet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394960" cy="4389120"/>
          </a:xfrm>
          <a:prstGeom prst="rect">
            <a:avLst/>
          </a:prstGeom>
          <a:solidFill>
            <a:srgbClr val="0D2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Prevent station slot overflow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042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Minimize queue cascade effects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7121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Real-time speed recommendations (10 FPS)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43814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Analytical solution — no ML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050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O(S x 2) complexity per tick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Background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5303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2560320" cy="201168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B4D8"/>
                </a:solidFill>
              </a:rPr>
              <a:t>52 km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Corridor Length
(Beylikduzu - Sogutlucesme)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188720"/>
            <a:ext cx="2560320" cy="201168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25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6D6A0"/>
                </a:solidFill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Stations on Route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2560320" cy="201168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D166"/>
                </a:solidFill>
              </a:rPr>
              <a:t>800K+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Daily Passengers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188720"/>
            <a:ext cx="2560320" cy="201168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325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90E0EF"/>
                </a:solidFill>
              </a:rPr>
              <a:t>~2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Target Headway
(rush hour)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Why Slot-Based Control?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Headway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8404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fixes gaps reactively — after bunching occurs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Slot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4074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prevents overflow proactively — before bunching starts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7433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Each 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97433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independently manages its zone (1-2 vehicles) — O(1) per 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4126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Cascade effect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541264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one overflowed stop delays all following vehicles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Design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5303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920240" cy="1371600"/>
          </a:xfrm>
          <a:prstGeom prst="rect">
            <a:avLst/>
          </a:prstGeom>
          <a:solidFill>
            <a:srgbClr val="132238"/>
          </a:solidFill>
          <a:ln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ABBCC"/>
                </a:solidFill>
              </a:rPr>
              <a:t>Physics
Engine
20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188720"/>
            <a:ext cx="1920240" cy="1371600"/>
          </a:xfrm>
          <a:prstGeom prst="rect">
            <a:avLst/>
          </a:prstGeom>
          <a:solidFill>
            <a:srgbClr val="13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2344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</a:rPr>
              <a:t>SmartStop
x45
Zone Mgr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188720"/>
            <a:ext cx="1920240" cy="1371600"/>
          </a:xfrm>
          <a:prstGeom prst="rect">
            <a:avLst/>
          </a:prstGeom>
          <a:solidFill>
            <a:srgbClr val="132238"/>
          </a:solidFill>
          <a:ln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2344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0E0EF"/>
                </a:solidFill>
              </a:rPr>
              <a:t>StopInterface
Coordination
Pub/Sub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59" y="1188720"/>
            <a:ext cx="1920240" cy="1371600"/>
          </a:xfrm>
          <a:prstGeom prst="rect">
            <a:avLst/>
          </a:prstGeom>
          <a:solidFill>
            <a:srgbClr val="132238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2344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D6A0"/>
                </a:solidFill>
              </a:rPr>
              <a:t>ControlMerger
Command
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1188720"/>
            <a:ext cx="1920240" cy="1371600"/>
          </a:xfrm>
          <a:prstGeom prst="rect">
            <a:avLst/>
          </a:prstGeom>
          <a:solidFill>
            <a:srgbClr val="132238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12344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166"/>
                </a:solidFill>
              </a:rPr>
              <a:t>Dashboard
10 FPS
WebSocket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Design Principles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00400"/>
            <a:ext cx="1088136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337560"/>
            <a:ext cx="5394960" cy="91440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107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Purely Analytical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216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No ML, no RL — deterministic formulas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337560"/>
            <a:ext cx="5394960" cy="91440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4107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Decentralized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7216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Each SmartStop manages only its zone (~1-2 vehicles)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34840"/>
            <a:ext cx="5394960" cy="91440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07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Single Thread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18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asyncio cooperative multitasking — no locks, no races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434840"/>
            <a:ext cx="5394960" cy="91440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507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Forward Safety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818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Collision prevention layer — cannot be overridden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Implementation I — Physics Engine &amp; Station FSM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</a:rPr>
              <a:t>sim_server.py  |  rl_env/station_fsm.py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" cy="5303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5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645920" cy="502920"/>
          </a:xfrm>
          <a:prstGeom prst="rect">
            <a:avLst/>
          </a:prstGeom>
          <a:solidFill>
            <a:srgbClr val="101E32"/>
          </a:solidFill>
          <a:ln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ABBCC"/>
                </a:solidFill>
              </a:rPr>
              <a:t>cruising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1463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371600"/>
            <a:ext cx="1645920" cy="502920"/>
          </a:xfrm>
          <a:prstGeom prst="rect">
            <a:avLst/>
          </a:prstGeom>
          <a:solidFill>
            <a:srgbClr val="101E32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444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approaching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463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1645920" cy="502920"/>
          </a:xfrm>
          <a:prstGeom prst="rect">
            <a:avLst/>
          </a:prstGeom>
          <a:solidFill>
            <a:srgbClr val="101E32"/>
          </a:solidFill>
          <a:ln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44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0E0EF"/>
                </a:solidFill>
              </a:rPr>
              <a:t>docking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463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1645920" cy="502920"/>
          </a:xfrm>
          <a:prstGeom prst="rect">
            <a:avLst/>
          </a:prstGeom>
          <a:solidFill>
            <a:srgbClr val="101E32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44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</a:rPr>
              <a:t>stopped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1463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371600"/>
            <a:ext cx="1645920" cy="502920"/>
          </a:xfrm>
          <a:prstGeom prst="rect">
            <a:avLst/>
          </a:prstGeom>
          <a:solidFill>
            <a:srgbClr val="101E32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44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166"/>
                </a:solidFill>
              </a:rPr>
              <a:t>doorsClosed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5248" y="1463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0" y="1371600"/>
            <a:ext cx="1645920" cy="502920"/>
          </a:xfrm>
          <a:prstGeom prst="rect">
            <a:avLst/>
          </a:prstGeom>
          <a:solidFill>
            <a:srgbClr val="101E32"/>
          </a:solidFill>
          <a:ln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1444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ABBCC"/>
                </a:solidFill>
              </a:rPr>
              <a:t>departing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143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Vehicle Phase State Machine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Physics Parameters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423160"/>
            <a:ext cx="1088136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Tick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20 Hz (50ms per step)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9077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Physics motor frekansi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Max Speed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14 m/s  (~50 km/h)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9077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Metrobus hat limiti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Vehicle Length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20 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822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Slot hesabi icin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Slot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25 m  (20m bus + 5m gap)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822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Platform slot birimi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Comfort Braking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2.0 m/s^2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736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ETA hesabinda frenel ivmesi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Approach Zone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150 m before stop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736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Hiz duzenleyici aktif mesafe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Implementation II — SmartStop Control Mathematics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</a:rPr>
              <a:t>rl_env/controller/smart_stop.py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" cy="5303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Kinematic ETA  (two-phase model)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10881360" cy="329184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Phase 1 (d &gt; d_approach):  ETA = (d - d_approach)/v  +  d_approach / (v_entry/2)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01368"/>
            <a:ext cx="10881360" cy="329184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0136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Phase 2 (d &lt;= d_approach): ETA = d / (v_entry/2)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39696"/>
            <a:ext cx="10881360" cy="329184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39696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v_entry = min(v, sqrt(2 * a_c * d_approach))     [a_c = 2 m/s^2, d_approach = 150m]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8775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Delay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07792"/>
            <a:ext cx="10881360" cy="329184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07792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d_eff = d - v * 7.5s    (computation 1s + comms 0.5s + driver 4s + vehicle 2s)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10881360" cy="329184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46120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Intervention only if  d_eff &gt;= 30m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9417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Cost-Benefit Decision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14216"/>
            <a:ext cx="10881360" cy="329184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14216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queue_time     = t_ideal - ETA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352544"/>
            <a:ext cx="10881360" cy="329184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52544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cascade_cost   = queue_time * N_follow * 0.7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690872"/>
            <a:ext cx="10881360" cy="329184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90872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downstream_cost = P_down * 8.0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029200"/>
            <a:ext cx="10881360" cy="329184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029200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net_benefit = cascade_cost + downstream_cost - queue_time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367528"/>
            <a:ext cx="10881360" cy="329184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36752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net_benefit &gt; 0  --&gt;  SLOW 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1558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Speed Factor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135624"/>
            <a:ext cx="10881360" cy="329184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135624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lambda = clamp(v_needed / v_max,  0.3,  1.0)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Implementation III — Coordination &amp; System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</a:rPr>
              <a:t>rl_env/controller/stop_interface.py  |  Complexity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" cy="5303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StopInterface — Decentralized Coordination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Downstream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5544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P(s) = congestion(s+1)*1.0 + congestion(s+2)*0.6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Upstream Density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488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U(s) = density(s-1)*1.0 + density(s-2)*0.6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432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Shared state — each stop publishes, neighbors read (stigmergy)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Computational Complexity — Old vs New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40480"/>
            <a:ext cx="10972800" cy="411480"/>
          </a:xfrm>
          <a:prstGeom prst="rect">
            <a:avLst/>
          </a:prstGeom>
          <a:solidFill>
            <a:srgbClr val="0D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886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Old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886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New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886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Improvement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51960"/>
            <a:ext cx="10972800" cy="484632"/>
          </a:xfrm>
          <a:prstGeom prst="rect">
            <a:avLst/>
          </a:prstGeom>
          <a:solidFill>
            <a:srgbClr val="10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159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Heavy ops/tick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3159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 x S  (~1,350)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3159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 x 2  (~90)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3159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D6A0"/>
                </a:solidFill>
              </a:rPr>
              <a:t>~15x faster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754880"/>
            <a:ext cx="10972800" cy="484632"/>
          </a:xfrm>
          <a:prstGeom prst="rect">
            <a:avLst/>
          </a:prstGeom>
          <a:solidFill>
            <a:srgbClr val="0C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81888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Scalability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188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Grows with 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8188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Fixed at S x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48188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D6A0"/>
                </a:solidFill>
              </a:rPr>
              <a:t>N-independent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257800"/>
            <a:ext cx="10972800" cy="484632"/>
          </a:xfrm>
          <a:prstGeom prst="rect">
            <a:avLst/>
          </a:prstGeom>
          <a:solidFill>
            <a:srgbClr val="10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3218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Threading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3218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Async scheduler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53218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Single thread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53218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D6A0"/>
                </a:solidFill>
              </a:rPr>
              <a:t>No race cond.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5303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577840" cy="237744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57784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76F"/>
                </a:solidFill>
              </a:rPr>
              <a:t>Physical Slot Access Constraint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Challenge: Vehicles enter from the rear — front empty slots are inaccessible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D6A0"/>
                </a:solidFill>
              </a:rPr>
              <a:t>Solution: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rear_space = rearmost.position - bus_length - platform_tail - safe_gap
rear_free  = min(floor(rear_space / slot_size), capacity - occupied)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577840" cy="237744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557784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Delay Budget 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91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Challenge: Speed recommendation reaches driver after computation + comms + reaction delay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D6A0"/>
                </a:solidFill>
              </a:rPr>
              <a:t>Solution: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d_eff = d - v * 7.5s
Intervene only if d_eff &gt;= 30m (ensures vehicle can still respond)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40"/>
            <a:ext cx="5577840" cy="237744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55778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Slot Reservation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519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Challenge: Multiple approaching vehicles must not target the same slot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754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D6A0"/>
                </a:solidFill>
              </a:rPr>
              <a:t>Solution: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After each vehicle is processed, its assigned slot is updated in the timeline
so the next vehicle sees the correct availability.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749040"/>
            <a:ext cx="5577840" cy="237744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749040"/>
            <a:ext cx="557784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Oscillation / Hysteresis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519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Challenge: Small ETA fluctuations cause repeated on/off interventions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54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D6A0"/>
                </a:solidFill>
              </a:rPr>
              <a:t>Solution: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98348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Intervention threshold: eta &gt;= ideal_arrival - 2.0s  --&gt; no action
Prevents unnecessary speed adjustments near the boundary.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5303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972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Problem Reframed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Bus bunching is treated as a station slot overflow problem, not a headway deviation problem. This allows proactive intervention before bunching occurs.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109728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D6A0"/>
                </a:solidFill>
              </a:rPr>
              <a:t>Analytical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87752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The entire control system uses deterministic kinematic formulas. No machine learning, no training data, no black-box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91840"/>
            <a:ext cx="109728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Decentralized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39312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Each SmartStop manages only ~1-2 vehicles in its zone. Complexity is O(S x 2) per tick regardless of fleet size.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399"/>
            <a:ext cx="109728" cy="8229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399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Real-Time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90871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Physics engine runs at 20 Hz. Dashboard streams at 10 FPS via WebSocket. Full system runs single-threaded with asyncio.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9728" cy="8229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76F"/>
                </a:solidFill>
              </a:rPr>
              <a:t>Route Segment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42432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Dashboard allows selecting any sub-segment of the route for isolated testing. Vehicles spawn within bounds and wrap at segment 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5303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577840" cy="224028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5778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Cumulative Cascade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Current:  cascade_cost = q * N * 0.7
Improved: cascade_cost = q * N*(N+1)/2 * 0.7
Each following vehicle carries the accumulated delay of all predecessors.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577840" cy="224028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557784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80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Upstream Density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64208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upstream_density is computed but not yet used in cost-benefit decisions. Incorporating it would allow preemptive slowdowns before a vehicle even enters a zone.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11880"/>
            <a:ext cx="5577840" cy="224028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557784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Adaptive Decay Weights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87368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Downstream pressure uses fixed 0.6 decay. A speed-aware decay (based on actual ETA distances) would improve accuracy.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611880"/>
            <a:ext cx="5577840" cy="224028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611880"/>
            <a:ext cx="557784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Multi-Route Coordination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087368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Current system manages a single linear route. Extension to branching or intersecting corridors is an open problem.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6035040"/>
            <a:ext cx="5760720" cy="594360"/>
          </a:xfrm>
          <a:prstGeom prst="rect">
            <a:avLst/>
          </a:prstGeom>
          <a:solidFill>
            <a:srgbClr val="00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6053328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4D8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