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11731752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Istanbul Metrobus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0B4D8"/>
                </a:solidFill>
              </a:rPr>
              <a:t>Analytical Station-Slot Control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560320"/>
            <a:ext cx="5029200" cy="4572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743200"/>
            <a:ext cx="2286000" cy="1005840"/>
          </a:xfrm>
          <a:prstGeom prst="rect">
            <a:avLst/>
          </a:prstGeom>
          <a:solidFill>
            <a:srgbClr val="13223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B4D8"/>
                </a:solidFill>
              </a:rPr>
              <a:t>52 km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37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BBCC"/>
                </a:solidFill>
              </a:rPr>
              <a:t>Corridor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2743200"/>
            <a:ext cx="2286000" cy="1005840"/>
          </a:xfrm>
          <a:prstGeom prst="rect">
            <a:avLst/>
          </a:prstGeom>
          <a:solidFill>
            <a:srgbClr val="13223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788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B4D8"/>
                </a:solidFill>
              </a:rPr>
              <a:t>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337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BBCC"/>
                </a:solidFill>
              </a:rPr>
              <a:t>Stations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743200"/>
            <a:ext cx="2286000" cy="1005840"/>
          </a:xfrm>
          <a:prstGeom prst="rect">
            <a:avLst/>
          </a:prstGeom>
          <a:solidFill>
            <a:srgbClr val="13223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788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B4D8"/>
                </a:solidFill>
              </a:rPr>
              <a:t>800K+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337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BBCC"/>
                </a:solidFill>
              </a:rPr>
              <a:t>Daily Passengers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79" y="2743200"/>
            <a:ext cx="2286000" cy="1005840"/>
          </a:xfrm>
          <a:prstGeom prst="rect">
            <a:avLst/>
          </a:prstGeom>
          <a:solidFill>
            <a:srgbClr val="13223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79" y="2788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B4D8"/>
                </a:solidFill>
              </a:rPr>
              <a:t>20 Hz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79" y="3337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BBCC"/>
                </a:solidFill>
              </a:rPr>
              <a:t>Real-Time Physics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31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BBCC"/>
                </a:solidFill>
              </a:rPr>
              <a:t>SmartStop  ·  HeadwayModel  ·  StopInterface  ·  ControlMerger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ABBCC"/>
                </a:solidFill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Problem Statement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8813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ABBCC"/>
                </a:solidFill>
              </a:rPr>
              <a:t>2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5120640" cy="5120640"/>
          </a:xfrm>
          <a:prstGeom prst="rect">
            <a:avLst/>
          </a:prstGeom>
          <a:solidFill>
            <a:srgbClr val="18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972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F476F"/>
                </a:solidFill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•  Vehicles cluster together (bus bunching)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12848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•  Large service gaps form on the route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71216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•  800,000+ daily passengers affected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29584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•  Traditional headway control reacts too 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87952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•  One overflowed station cascades delays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005840"/>
            <a:ext cx="5394960" cy="5120640"/>
          </a:xfrm>
          <a:prstGeom prst="rect">
            <a:avLst/>
          </a:prstGeom>
          <a:solidFill>
            <a:srgbClr val="0D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097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6D6A0"/>
                </a:solidFill>
              </a:rPr>
              <a:t>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55448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•  Prevent station slot overflow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212848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•  Minimize cascade queue effects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871216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•  Real-time speed recommendations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529584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•  Purely analytical — no ML/RL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187952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  •  Scalable: O(S×2) per tick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Background &amp;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8813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ABBCC"/>
                </a:solidFill>
              </a:rPr>
              <a:t>3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2560320" cy="1554480"/>
          </a:xfrm>
          <a:prstGeom prst="rect">
            <a:avLst/>
          </a:prstGeom>
          <a:solidFill>
            <a:srgbClr val="13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B4D8"/>
                </a:solidFill>
              </a:rPr>
              <a:t>52 km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BBCC"/>
                </a:solidFill>
              </a:rPr>
              <a:t>Corridor Length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005840"/>
            <a:ext cx="2560320" cy="1554480"/>
          </a:xfrm>
          <a:prstGeom prst="rect">
            <a:avLst/>
          </a:prstGeom>
          <a:solidFill>
            <a:srgbClr val="13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09728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6D6A0"/>
                </a:solidFill>
              </a:rPr>
              <a:t>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87451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BBCC"/>
                </a:solidFill>
              </a:rPr>
              <a:t>Stations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05840"/>
            <a:ext cx="2560320" cy="1554480"/>
          </a:xfrm>
          <a:prstGeom prst="rect">
            <a:avLst/>
          </a:prstGeom>
          <a:solidFill>
            <a:srgbClr val="13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9728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D166"/>
                </a:solidFill>
              </a:rPr>
              <a:t>800K+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87451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BBCC"/>
                </a:solidFill>
              </a:rPr>
              <a:t>Daily Passengers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52560" y="1005840"/>
            <a:ext cx="2560320" cy="1554480"/>
          </a:xfrm>
          <a:prstGeom prst="rect">
            <a:avLst/>
          </a:prstGeom>
          <a:solidFill>
            <a:srgbClr val="13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09728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90E0EF"/>
                </a:solidFill>
              </a:rPr>
              <a:t>~2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87451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BBCC"/>
                </a:solidFill>
              </a:rPr>
              <a:t>Target Headway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834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Core Insight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200400"/>
            <a:ext cx="108813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3375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0E0EF"/>
                </a:solidFill>
              </a:rPr>
              <a:t>Root Cause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33756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Station slot overflow — not headway deviation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05079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0E0EF"/>
                </a:solidFill>
              </a:rPr>
              <a:t>Old Approach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4050792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Measure headway gap → react with hold/skip → too 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764024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0E0EF"/>
                </a:solidFill>
              </a:rPr>
              <a:t>New Approach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4764024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Predict slot availability → adjust speed before arriving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477256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0E0EF"/>
                </a:solidFill>
              </a:rPr>
              <a:t>Key Property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5477256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Proactive control eliminates the need for reactive correction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Design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8813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ABBCC"/>
                </a:solidFill>
              </a:rPr>
              <a:t>4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965960" cy="1280160"/>
          </a:xfrm>
          <a:prstGeom prst="rect">
            <a:avLst/>
          </a:prstGeom>
          <a:solidFill>
            <a:srgbClr val="122036"/>
          </a:solidFill>
          <a:ln>
            <a:solidFill>
              <a:srgbClr val="AA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AABBCC"/>
                </a:solidFill>
              </a:rPr>
              <a:t>Physics
Engine
20 Hz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50592" y="1508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ABBCC"/>
                </a:solidFill>
              </a:rPr>
              <a:t>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005840"/>
            <a:ext cx="1965960" cy="1280160"/>
          </a:xfrm>
          <a:prstGeom prst="rect">
            <a:avLst/>
          </a:prstGeom>
          <a:solidFill>
            <a:srgbClr val="122036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1051560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B4D8"/>
                </a:solidFill>
              </a:rPr>
              <a:t>SmartStop
x45 stops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2312" y="1508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ABBCC"/>
                </a:solidFill>
              </a:rPr>
              <a:t>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1005840"/>
            <a:ext cx="1965960" cy="1280160"/>
          </a:xfrm>
          <a:prstGeom prst="rect">
            <a:avLst/>
          </a:prstGeom>
          <a:solidFill>
            <a:srgbClr val="122036"/>
          </a:solidFill>
          <a:ln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051560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90E0EF"/>
                </a:solidFill>
              </a:rPr>
              <a:t>StopInterface
Coordination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4032" y="1508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ABBCC"/>
                </a:solidFill>
              </a:rPr>
              <a:t>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59" y="1005840"/>
            <a:ext cx="1965960" cy="1280160"/>
          </a:xfrm>
          <a:prstGeom prst="rect">
            <a:avLst/>
          </a:prstGeom>
          <a:solidFill>
            <a:srgbClr val="122036"/>
          </a:solidFill>
          <a:ln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59" y="1051560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6D6A0"/>
                </a:solidFill>
              </a:rPr>
              <a:t>ControlMerger
Commands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45751" y="1508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ABBCC"/>
                </a:solidFill>
              </a:rPr>
              <a:t>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84080" y="1005840"/>
            <a:ext cx="1965960" cy="1280160"/>
          </a:xfrm>
          <a:prstGeom prst="rect">
            <a:avLst/>
          </a:prstGeom>
          <a:solidFill>
            <a:srgbClr val="122036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0" y="1051560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D166"/>
                </a:solidFill>
              </a:rPr>
              <a:t>Dashboard
10 FPS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5146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Design Principles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880360"/>
            <a:ext cx="108813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017520"/>
            <a:ext cx="5577840" cy="1280160"/>
          </a:xfrm>
          <a:prstGeom prst="rect">
            <a:avLst/>
          </a:prstGeom>
          <a:solidFill>
            <a:srgbClr val="1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017520"/>
            <a:ext cx="9144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1089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Purely Analytical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52044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Deterministic kinematic formulas — no ML, no training 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017520"/>
            <a:ext cx="5577840" cy="1280160"/>
          </a:xfrm>
          <a:prstGeom prst="rect">
            <a:avLst/>
          </a:prstGeom>
          <a:solidFill>
            <a:srgbClr val="1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3017520"/>
            <a:ext cx="91440" cy="12801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31089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D6A0"/>
                </a:solidFill>
              </a:rPr>
              <a:t>Decentralized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52044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Each stop independently manages its own zone (~1-2 vehicles)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480560"/>
            <a:ext cx="5577840" cy="1280160"/>
          </a:xfrm>
          <a:prstGeom prst="rect">
            <a:avLst/>
          </a:prstGeom>
          <a:solidFill>
            <a:srgbClr val="1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480560"/>
            <a:ext cx="91440" cy="128016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572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166"/>
                </a:solidFill>
              </a:rPr>
              <a:t>Single Thread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98348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asyncio cooperative multitasking — simple, no race conditions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4480560"/>
            <a:ext cx="5577840" cy="1280160"/>
          </a:xfrm>
          <a:prstGeom prst="rect">
            <a:avLst/>
          </a:prstGeom>
          <a:solidFill>
            <a:srgbClr val="1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0" y="4480560"/>
            <a:ext cx="91440" cy="128016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4572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0E0EF"/>
                </a:solidFill>
              </a:rPr>
              <a:t>Forward Safety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498348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Collision prevention layer always overrides speed commands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Implementation I — Physics Engine &amp; Station FSM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8813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BBCC"/>
                </a:solidFill>
              </a:rPr>
              <a:t>sim_server.py  ·  rl_env/station_fsm.py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ABBCC"/>
                </a:solidFill>
              </a:rPr>
              <a:t>5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1783080" cy="548640"/>
          </a:xfrm>
          <a:prstGeom prst="rect">
            <a:avLst/>
          </a:prstGeom>
          <a:solidFill>
            <a:srgbClr val="101E32"/>
          </a:solidFill>
          <a:ln>
            <a:solidFill>
              <a:srgbClr val="AA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6128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AABBCC"/>
                </a:solidFill>
              </a:rPr>
              <a:t>cruising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13432" y="1261872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ABBCC"/>
                </a:solidFill>
              </a:rPr>
              <a:t>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2450592" y="1097280"/>
            <a:ext cx="1783080" cy="548640"/>
          </a:xfrm>
          <a:prstGeom prst="rect">
            <a:avLst/>
          </a:prstGeom>
          <a:solidFill>
            <a:srgbClr val="101E32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50592" y="116128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B4D8"/>
                </a:solidFill>
              </a:rPr>
              <a:t>approaching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1104" y="1261872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ABBCC"/>
                </a:solidFill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98264" y="1097280"/>
            <a:ext cx="1783080" cy="548640"/>
          </a:xfrm>
          <a:prstGeom prst="rect">
            <a:avLst/>
          </a:prstGeom>
          <a:solidFill>
            <a:srgbClr val="101E32"/>
          </a:solidFill>
          <a:ln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8264" y="116128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90E0EF"/>
                </a:solidFill>
              </a:rPr>
              <a:t>docking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8776" y="1261872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ABBCC"/>
                </a:solidFill>
              </a:rPr>
              <a:t>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45936" y="1097280"/>
            <a:ext cx="1783080" cy="548640"/>
          </a:xfrm>
          <a:prstGeom prst="rect">
            <a:avLst/>
          </a:prstGeom>
          <a:solidFill>
            <a:srgbClr val="101E32"/>
          </a:solidFill>
          <a:ln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16128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6D6A0"/>
                </a:solidFill>
              </a:rPr>
              <a:t>stopped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1261872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ABBCC"/>
                </a:solidFill>
              </a:rPr>
              <a:t>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93608" y="1097280"/>
            <a:ext cx="1783080" cy="548640"/>
          </a:xfrm>
          <a:prstGeom prst="rect">
            <a:avLst/>
          </a:prstGeom>
          <a:solidFill>
            <a:srgbClr val="101E32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116128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D166"/>
                </a:solidFill>
              </a:rPr>
              <a:t>doorsClosed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04120" y="1261872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ABBCC"/>
                </a:solidFill>
              </a:rPr>
              <a:t>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41279" y="1097280"/>
            <a:ext cx="1783080" cy="548640"/>
          </a:xfrm>
          <a:prstGeom prst="rect">
            <a:avLst/>
          </a:prstGeom>
          <a:solidFill>
            <a:srgbClr val="101E32"/>
          </a:solidFill>
          <a:ln>
            <a:solidFill>
              <a:srgbClr val="AA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79" y="116128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AABBCC"/>
                </a:solidFill>
              </a:rPr>
              <a:t>departing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960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</a:rPr>
              <a:t>Vehicle Phase State Machine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1828800"/>
            <a:ext cx="5303520" cy="4480560"/>
          </a:xfrm>
          <a:prstGeom prst="rect">
            <a:avLst/>
          </a:prstGeom>
          <a:solidFill>
            <a:srgbClr val="1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Physics Parameters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23774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</a:rPr>
              <a:t>Tick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23774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10 Hz  (100 ms/step)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99923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</a:rPr>
              <a:t>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299923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10 FPS via WebSocket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3621024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</a:rPr>
              <a:t>Max Speed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3621024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25 m/s  (~90 km/h)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242816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</a:rPr>
              <a:t>Comfort Braking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4242816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3.5 m/s²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86460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</a:rPr>
              <a:t>Slot Size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0" y="486460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25 m  (20m bus + 5m gap)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486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</a:rPr>
              <a:t>Approach Zone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17520" y="54864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150 m before stop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1828800"/>
            <a:ext cx="5486400" cy="4480560"/>
          </a:xfrm>
          <a:prstGeom prst="rect">
            <a:avLst/>
          </a:prstGeom>
          <a:solidFill>
            <a:srgbClr val="0D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SmartStop Zone Logic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23774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1.  Each stop owns a zone [prev_stop → this_stop]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29718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2.  Filters only vehicles in its own zone (~1-2)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35661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3.  Computes ETA for each approaching vehicle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41605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4.  Checks slot timeline for earliest free slot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475488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5.  Runs cost-benefit: slow down or accept queue?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53492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6.  Publishes zone state to StopInterface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Implementation II — Control Mathematics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8813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BBCC"/>
                </a:solidFill>
              </a:rPr>
              <a:t>rl_env/controller/smart_stop.py  ·  station_arrival_scheduler.py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ABBCC"/>
                </a:solidFill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9144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09728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Kinematic ETA — Two-Phase Model</a:t>
            </a:r>
          </a:p>
        </p:txBody>
      </p:sp>
      <p:pic>
        <p:nvPicPr>
          <p:cNvPr id="8" name="Picture 7" descr="tmp13v2j8f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81328"/>
            <a:ext cx="5029200" cy="685800"/>
          </a:xfrm>
          <a:prstGeom prst="rect">
            <a:avLst/>
          </a:prstGeom>
        </p:spPr>
      </p:pic>
      <p:pic>
        <p:nvPicPr>
          <p:cNvPr id="9" name="Picture 8" descr="tmplmacg3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58568"/>
            <a:ext cx="4572000" cy="685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3172968"/>
            <a:ext cx="91440" cy="34747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72968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166"/>
                </a:solidFill>
              </a:rPr>
              <a:t>Delay Budget</a:t>
            </a:r>
          </a:p>
        </p:txBody>
      </p:sp>
      <p:pic>
        <p:nvPicPr>
          <p:cNvPr id="12" name="Picture 11" descr="tmp74uz_ff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557016"/>
            <a:ext cx="4572000" cy="6858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48640" y="4471416"/>
            <a:ext cx="91440" cy="34747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471416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D6A0"/>
                </a:solidFill>
              </a:rPr>
              <a:t>Cost-Benefit Decision</a:t>
            </a:r>
          </a:p>
        </p:txBody>
      </p:sp>
      <p:pic>
        <p:nvPicPr>
          <p:cNvPr id="15" name="Picture 14" descr="tmpzf_2ba5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855464"/>
            <a:ext cx="6858000" cy="685800"/>
          </a:xfrm>
          <a:prstGeom prst="rect">
            <a:avLst/>
          </a:prstGeom>
        </p:spPr>
      </p:pic>
      <p:pic>
        <p:nvPicPr>
          <p:cNvPr id="16" name="Picture 15" descr="tmpblee7ob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632704"/>
            <a:ext cx="5029200" cy="6858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548640" y="6547104"/>
            <a:ext cx="91440" cy="347472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6547104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0E0EF"/>
                </a:solidFill>
              </a:rPr>
              <a:t>Speed Factor</a:t>
            </a:r>
          </a:p>
        </p:txBody>
      </p:sp>
      <p:pic>
        <p:nvPicPr>
          <p:cNvPr id="19" name="Picture 18" descr="tmp31241ml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6931152"/>
            <a:ext cx="50292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Implementation III — Driver Speed-Band Advisory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8813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BBCC"/>
                </a:solidFill>
              </a:rPr>
              <a:t>rl_env/controller/control_merger.py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ABBCC"/>
                </a:solidFill>
              </a:rPr>
              <a:t>7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64240" cy="868680"/>
          </a:xfrm>
          <a:prstGeom prst="rect">
            <a:avLst/>
          </a:prstGeom>
          <a:solidFill>
            <a:srgbClr val="0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91440" cy="8686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02412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Advise a holdable BAND, not a point speed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89888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ABBCC"/>
                </a:solidFill>
              </a:rPr>
              <a:t>A real driver cannot track "go 61 km/h, now 62, now 60" each second. We tell the driver "keep 60-70 km/h" — analogous to GLOSA speed advisory at traffic lights.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65960"/>
            <a:ext cx="5349240" cy="2331720"/>
          </a:xfrm>
          <a:prstGeom prst="rect">
            <a:avLst/>
          </a:prstGeom>
          <a:solidFill>
            <a:srgbClr val="1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D6A0"/>
                </a:solidFill>
              </a:rPr>
              <a:t>Anti-Chatter — 3 Layers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6888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</a:rPr>
              <a:t>  •  EMA smoothing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71576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needed speed low-pass filtered (tau = 2.5s)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3580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</a:rPr>
              <a:t>  •  Min-hold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28269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a band is kept at least 8s before re-issue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02736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</a:rPr>
              <a:t>  •  Escape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4962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re-issue early only on a real &gt;8 km/h shift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965960"/>
            <a:ext cx="5349240" cy="2331720"/>
          </a:xfrm>
          <a:prstGeom prst="rect">
            <a:avLst/>
          </a:prstGeom>
          <a:solidFill>
            <a:srgbClr val="06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057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D6A0"/>
                </a:solidFill>
              </a:rP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4231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00B4D8"/>
                </a:solidFill>
              </a:rPr>
              <a:t>171  → 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246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BBCC"/>
                </a:solidFill>
              </a:rPr>
              <a:t>band changes per 60 s of simulation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611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No more per-second "speed up / slow down" flicker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4348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Advisory Lifecycle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754880"/>
            <a:ext cx="1106424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892040"/>
            <a:ext cx="3474720" cy="1371600"/>
          </a:xfrm>
          <a:prstGeom prst="rect">
            <a:avLst/>
          </a:prstGeom>
          <a:solidFill>
            <a:srgbClr val="1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892040"/>
            <a:ext cx="3474720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983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166"/>
                </a:solidFill>
              </a:rPr>
              <a:t>SLOW DOWN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3949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early arrival risks slot overflow → band drops (e.g. 50-60)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41648" y="534924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AABBCC"/>
                </a:solidFill>
              </a:rPr>
              <a:t>&gt;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79" y="4892040"/>
            <a:ext cx="3474720" cy="1371600"/>
          </a:xfrm>
          <a:prstGeom prst="rect">
            <a:avLst/>
          </a:prstGeom>
          <a:solidFill>
            <a:srgbClr val="1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79" y="4892040"/>
            <a:ext cx="34747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34839" y="4983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39" y="53949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driver keeps the band; metering happens while cruising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90687" y="534924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AABBCC"/>
                </a:solidFill>
              </a:rPr>
              <a:t>&gt;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19" y="4892040"/>
            <a:ext cx="3474720" cy="1371600"/>
          </a:xfrm>
          <a:prstGeom prst="rect">
            <a:avLst/>
          </a:prstGeom>
          <a:solidFill>
            <a:srgbClr val="1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46719" y="4892040"/>
            <a:ext cx="3474720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83879" y="4983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D6A0"/>
                </a:solidFill>
              </a:rPr>
              <a:t>RESUME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79" y="53949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risk cleared → band climbs back to full speed (cue to speed up)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Challenges &amp; Solutions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8813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ABBCC"/>
                </a:solidFill>
              </a:rPr>
              <a:t>8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1508760"/>
          </a:xfrm>
          <a:prstGeom prst="rect">
            <a:avLst/>
          </a:prstGeom>
          <a:solidFill>
            <a:srgbClr val="0A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11247120" cy="54864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7899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476F"/>
                </a:solidFill>
              </a:rPr>
              <a:t>Initial Approach: AI / Reinforcement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7772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</a:rPr>
              <a:t>The system was initially designed using a reinforcement learning agent to learn optimal speed policies. However, training instability, lack of interpretability, and the need for large amounts of simulation data made this approach impractical for a real-time transit control system.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600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B4D8"/>
                </a:solidFill>
              </a:rPr>
              <a:t>--&gt;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52560" y="1417320"/>
            <a:ext cx="2560320" cy="1005840"/>
          </a:xfrm>
          <a:prstGeom prst="rect">
            <a:avLst/>
          </a:prstGeom>
          <a:solidFill>
            <a:srgbClr val="06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052560" y="1417320"/>
            <a:ext cx="2560320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48132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6D6A0"/>
                </a:solidFill>
              </a:rPr>
              <a:t>Switched to
Analytical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19842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0E0EF"/>
                </a:solidFill>
              </a:rPr>
              <a:t>Deterministic · Interpretable
No training required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97480"/>
            <a:ext cx="5577840" cy="1828800"/>
          </a:xfrm>
          <a:prstGeom prst="rect">
            <a:avLst/>
          </a:prstGeom>
          <a:solidFill>
            <a:srgbClr val="1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697480"/>
            <a:ext cx="5577840" cy="457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7889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166"/>
                </a:solidFill>
              </a:rPr>
              <a:t>Delay Budget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17296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</a:rPr>
              <a:t>Challenge:  Speed command reaches driver ~7.5s after computation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675888"/>
            <a:ext cx="5303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Solution:  d_eff = d - v × 7.5s  |  Skip if d_eff &lt; 30m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697480"/>
            <a:ext cx="5577840" cy="1828800"/>
          </a:xfrm>
          <a:prstGeom prst="rect">
            <a:avLst/>
          </a:prstGeom>
          <a:solidFill>
            <a:srgbClr val="1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2697480"/>
            <a:ext cx="557784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7889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Slot Reservation Chain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17296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</a:rPr>
              <a:t>Challenge:  Multiple vehicles may target the same free slot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675888"/>
            <a:ext cx="5303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Solution:  Reserve each assigned slot immediately so the next
vehicle sees updated availability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709160"/>
            <a:ext cx="5577840" cy="1828800"/>
          </a:xfrm>
          <a:prstGeom prst="rect">
            <a:avLst/>
          </a:prstGeom>
          <a:solidFill>
            <a:srgbClr val="1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709160"/>
            <a:ext cx="5577840" cy="4572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8006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76F"/>
                </a:solidFill>
              </a:rPr>
              <a:t>Physical Slot Access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18464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</a:rPr>
              <a:t>Challenge:  Front empty slots are unreachable — vehicles enter from rear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687568"/>
            <a:ext cx="5303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Solution:  rear_free = floor(rear_space / slot_size)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4709160"/>
            <a:ext cx="5577840" cy="1828800"/>
          </a:xfrm>
          <a:prstGeom prst="rect">
            <a:avLst/>
          </a:prstGeom>
          <a:solidFill>
            <a:srgbClr val="1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4709160"/>
            <a:ext cx="5577840" cy="4572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8006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0E0EF"/>
                </a:solidFill>
              </a:rPr>
              <a:t>Unrealistic Dwell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18464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</a:rPr>
              <a:t>Challenge:  A fixed dwell time per stop ignored real-world variability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5687568"/>
            <a:ext cx="5303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Solution:  Field-measured stochastic dwell: 15-30s, mean ~18s,
shifted truncated-exponential (right-skewed)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8813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ABBCC"/>
                </a:solidFill>
              </a:rPr>
              <a:t>9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09728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0584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Problem Reframed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Bus bunching is a station slot overflow problem — not a headway problem. Proactive slot-based control prevents bunching before it occurs.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57400"/>
            <a:ext cx="109728" cy="8229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D6A0"/>
                </a:solidFill>
              </a:rPr>
              <a:t>Analytical &amp; Interpretable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Every decision follows deterministic kinematic formulas. No black-box models, no training, no data dependency.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08960"/>
            <a:ext cx="109728" cy="82296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166"/>
                </a:solidFill>
              </a:rPr>
              <a:t>Efficient by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747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O(S×2) heavy computations per tick regardless of fleet size. ~15× improvement over the previous architecture.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160519"/>
            <a:ext cx="109728" cy="82296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160519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0E0EF"/>
                </a:solidFill>
              </a:rPr>
              <a:t>Real-Time Capable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526279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Physics at 20 Hz, dashboard at 10 FPS. Single-threaded asyncio — simple deployment, no infrastructure needed.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212080"/>
            <a:ext cx="109728" cy="82296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21208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476F"/>
                </a:solidFill>
              </a:rPr>
              <a:t>Extensible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5778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Route segment selection, slot timeline, downstream lookahead — all components are independently testable and replaceable.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Future Work &amp; Q&amp;A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08813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ABBCC"/>
                </a:solidFill>
              </a:rPr>
              <a:t>10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1064240" cy="2926080"/>
          </a:xfrm>
          <a:prstGeom prst="rect">
            <a:avLst/>
          </a:prstGeom>
          <a:solidFill>
            <a:srgbClr val="0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109728" cy="292608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7899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F476F"/>
                </a:solidFill>
              </a:rPr>
              <a:t>Passenger Density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The current system has no awareness of passenger load. Integrating real-time occupancy data — both inside vehicles and on station platforms — would enable demand-aware slot scheduling and more accurate dwell time estimation.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</a:rPr>
              <a:t>  •  In-vehicle load: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377440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BBCC"/>
                </a:solidFill>
              </a:rPr>
              <a:t>Adjust dwell time and slot priority based on passenger 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8036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</a:rPr>
              <a:t>  •  Platform occupancy: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880360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BBCC"/>
                </a:solidFill>
              </a:rPr>
              <a:t>Detect crowded platforms early — trigger upstream slowdowns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8328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</a:rPr>
              <a:t>  •  Demand prediction: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383280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BBCC"/>
                </a:solidFill>
              </a:rPr>
              <a:t>Historical patterns could improve ideal arrival time estimation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114800"/>
            <a:ext cx="5577840" cy="2103120"/>
          </a:xfrm>
          <a:prstGeom prst="rect">
            <a:avLst/>
          </a:prstGeom>
          <a:solidFill>
            <a:srgbClr val="1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114800"/>
            <a:ext cx="91440" cy="2103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206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Cumulative Cascade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cascade_cost = q × N(N+1)/2 × 0.7
Each following vehicle carries accumulated delay — triangular sum is more accurate.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4114800"/>
            <a:ext cx="5577840" cy="2103120"/>
          </a:xfrm>
          <a:prstGeom prst="rect">
            <a:avLst/>
          </a:prstGeom>
          <a:solidFill>
            <a:srgbClr val="1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4114800"/>
            <a:ext cx="91440" cy="21031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206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D6A0"/>
                </a:solidFill>
              </a:rPr>
              <a:t>Higher-Fidelity Speed Formula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61772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Today the GPS speed advisory already saves time via simple kinematics.
A more realistic acceleration / comfort / traffic model would sharpen the band and the decision engine further.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solidFill>
            <a:srgbClr val="00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B4D8"/>
                </a:solidFill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