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71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Istanbul Metrobus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0B4D8"/>
                </a:solidFill>
              </a:rPr>
              <a:t>Analytical Station-Slot Control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502920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2743200"/>
            <a:ext cx="2286000" cy="1005840"/>
          </a:xfrm>
          <a:prstGeom prst="rect">
            <a:avLst/>
          </a:prstGeom>
          <a:solidFill>
            <a:srgbClr val="13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28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00B4D8"/>
                </a:solidFill>
              </a:rPr>
              <a:t>52 km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AABBCC"/>
                </a:solidFill>
              </a:rPr>
              <a:t>Corridor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743200"/>
            <a:ext cx="2286000" cy="1005840"/>
          </a:xfrm>
          <a:prstGeom prst="rect">
            <a:avLst/>
          </a:prstGeom>
          <a:solidFill>
            <a:srgbClr val="13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2788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</a:rPr>
              <a:t>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BCC"/>
                </a:solidFill>
              </a:rPr>
              <a:t>Stations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743200"/>
            <a:ext cx="2286000" cy="1005840"/>
          </a:xfrm>
          <a:prstGeom prst="rect">
            <a:avLst/>
          </a:prstGeom>
          <a:solidFill>
            <a:srgbClr val="13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2788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</a:rPr>
              <a:t>800K+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BCC"/>
                </a:solidFill>
              </a:rPr>
              <a:t>Daily Passengers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79" y="2743200"/>
            <a:ext cx="2286000" cy="1005840"/>
          </a:xfrm>
          <a:prstGeom prst="rect">
            <a:avLst/>
          </a:prstGeom>
          <a:solidFill>
            <a:srgbClr val="13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79" y="2788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</a:rPr>
              <a:t>Real-Time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79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BCC"/>
                </a:solidFill>
              </a:rPr>
              <a:t>Live Simulation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1 / 10</a:t>
            </a: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80FABA48-4630-AF26-0E53-7A85268242FB}"/>
              </a:ext>
            </a:extLst>
          </p:cNvPr>
          <p:cNvSpPr/>
          <p:nvPr/>
        </p:nvSpPr>
        <p:spPr>
          <a:xfrm>
            <a:off x="2116836" y="4237982"/>
            <a:ext cx="2286000" cy="1005840"/>
          </a:xfrm>
          <a:prstGeom prst="rect">
            <a:avLst/>
          </a:prstGeom>
          <a:solidFill>
            <a:srgbClr val="13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C9B303CA-CCD5-6CE4-1B9D-2107B2C85511}"/>
              </a:ext>
            </a:extLst>
          </p:cNvPr>
          <p:cNvSpPr txBox="1"/>
          <p:nvPr/>
        </p:nvSpPr>
        <p:spPr>
          <a:xfrm>
            <a:off x="2057400" y="4358359"/>
            <a:ext cx="228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00B4D8"/>
                </a:solidFill>
              </a:rPr>
              <a:t>O</a:t>
            </a:r>
            <a:r>
              <a:rPr lang="tr-TR" sz="2200" b="1" dirty="0">
                <a:solidFill>
                  <a:srgbClr val="00B4D8"/>
                </a:solidFill>
              </a:rPr>
              <a:t>ĞULCAN ARAL</a:t>
            </a:r>
          </a:p>
          <a:p>
            <a:pPr algn="ctr"/>
            <a:r>
              <a:rPr lang="tr-TR" sz="2200" b="1" dirty="0">
                <a:solidFill>
                  <a:srgbClr val="00B4D8"/>
                </a:solidFill>
              </a:rPr>
              <a:t>12120121</a:t>
            </a:r>
            <a:endParaRPr sz="2200" b="1" dirty="0">
              <a:solidFill>
                <a:srgbClr val="00B4D8"/>
              </a:solidFill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09512BD8-6FCB-CD2A-FEC1-DC99E34D0122}"/>
              </a:ext>
            </a:extLst>
          </p:cNvPr>
          <p:cNvSpPr/>
          <p:nvPr/>
        </p:nvSpPr>
        <p:spPr>
          <a:xfrm>
            <a:off x="4448428" y="4230814"/>
            <a:ext cx="2286000" cy="1005840"/>
          </a:xfrm>
          <a:prstGeom prst="rect">
            <a:avLst/>
          </a:prstGeom>
          <a:solidFill>
            <a:srgbClr val="13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68807ABC-026B-4550-F60B-054B969DBB45}"/>
              </a:ext>
            </a:extLst>
          </p:cNvPr>
          <p:cNvSpPr txBox="1"/>
          <p:nvPr/>
        </p:nvSpPr>
        <p:spPr>
          <a:xfrm>
            <a:off x="4448428" y="4311368"/>
            <a:ext cx="228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200" b="1" dirty="0">
                <a:solidFill>
                  <a:srgbClr val="00B4D8"/>
                </a:solidFill>
              </a:rPr>
              <a:t>KHALED AL AKIDI </a:t>
            </a:r>
          </a:p>
          <a:p>
            <a:pPr algn="ctr"/>
            <a:r>
              <a:rPr lang="tr-TR" sz="2200" b="1" dirty="0">
                <a:solidFill>
                  <a:srgbClr val="00B4D8"/>
                </a:solidFill>
              </a:rPr>
              <a:t>121200147</a:t>
            </a:r>
            <a:endParaRPr sz="2200" b="1" dirty="0">
              <a:solidFill>
                <a:srgbClr val="00B4D8"/>
              </a:solidFill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541F9378-3105-9CCD-D827-67E9D80BD611}"/>
              </a:ext>
            </a:extLst>
          </p:cNvPr>
          <p:cNvSpPr/>
          <p:nvPr/>
        </p:nvSpPr>
        <p:spPr>
          <a:xfrm>
            <a:off x="6780020" y="4245635"/>
            <a:ext cx="2286000" cy="1005840"/>
          </a:xfrm>
          <a:prstGeom prst="rect">
            <a:avLst/>
          </a:prstGeom>
          <a:solidFill>
            <a:srgbClr val="13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B1DEA755-0CE7-1A47-6E57-4BD573D56D83}"/>
              </a:ext>
            </a:extLst>
          </p:cNvPr>
          <p:cNvSpPr txBox="1"/>
          <p:nvPr/>
        </p:nvSpPr>
        <p:spPr>
          <a:xfrm>
            <a:off x="6780020" y="4356182"/>
            <a:ext cx="228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200" b="1" dirty="0">
                <a:solidFill>
                  <a:srgbClr val="00B4D8"/>
                </a:solidFill>
              </a:rPr>
              <a:t>ARIF HUDDOGLU</a:t>
            </a:r>
          </a:p>
          <a:p>
            <a:pPr algn="ctr"/>
            <a:r>
              <a:rPr lang="tr-TR" sz="2200" b="1" dirty="0">
                <a:solidFill>
                  <a:srgbClr val="00B4D8"/>
                </a:solidFill>
              </a:rPr>
              <a:t>120200074</a:t>
            </a:r>
            <a:endParaRPr sz="2200" b="1" dirty="0">
              <a:solidFill>
                <a:srgbClr val="00B4D8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27B51470-AE10-1239-61C2-2263144FC49C}"/>
              </a:ext>
            </a:extLst>
          </p:cNvPr>
          <p:cNvSpPr/>
          <p:nvPr/>
        </p:nvSpPr>
        <p:spPr>
          <a:xfrm>
            <a:off x="6601750" y="5754254"/>
            <a:ext cx="4002242" cy="480322"/>
          </a:xfrm>
          <a:prstGeom prst="rect">
            <a:avLst/>
          </a:prstGeom>
          <a:solidFill>
            <a:srgbClr val="13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28EB28BA-9F77-5F81-6D17-62AF6C066293}"/>
              </a:ext>
            </a:extLst>
          </p:cNvPr>
          <p:cNvSpPr txBox="1"/>
          <p:nvPr/>
        </p:nvSpPr>
        <p:spPr>
          <a:xfrm>
            <a:off x="8051074" y="5803689"/>
            <a:ext cx="228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200" b="1" dirty="0">
                <a:solidFill>
                  <a:srgbClr val="00B4D8"/>
                </a:solidFill>
              </a:rPr>
              <a:t>SAVAŞ YILDIRIM</a:t>
            </a:r>
            <a:endParaRPr sz="2200" b="1" dirty="0">
              <a:solidFill>
                <a:srgbClr val="00B4D8"/>
              </a:solidFill>
            </a:endParaRPr>
          </a:p>
        </p:txBody>
      </p:sp>
      <p:sp>
        <p:nvSpPr>
          <p:cNvPr id="30" name="TextBox 7">
            <a:extLst>
              <a:ext uri="{FF2B5EF4-FFF2-40B4-BE49-F238E27FC236}">
                <a16:creationId xmlns:a16="http://schemas.microsoft.com/office/drawing/2014/main" id="{3D4769CC-E831-121B-6E88-EF49709B0251}"/>
              </a:ext>
            </a:extLst>
          </p:cNvPr>
          <p:cNvSpPr txBox="1"/>
          <p:nvPr/>
        </p:nvSpPr>
        <p:spPr>
          <a:xfrm>
            <a:off x="6334832" y="5803689"/>
            <a:ext cx="228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200" b="1" dirty="0">
                <a:solidFill>
                  <a:srgbClr val="00B4D8"/>
                </a:solidFill>
              </a:rPr>
              <a:t>ADVISOR</a:t>
            </a:r>
            <a:r>
              <a:rPr lang="en-US" sz="2200" b="1" dirty="0">
                <a:solidFill>
                  <a:srgbClr val="00B4D8"/>
                </a:solidFill>
              </a:rPr>
              <a:t>:</a:t>
            </a:r>
            <a:endParaRPr sz="2200" b="1" dirty="0">
              <a:solidFill>
                <a:srgbClr val="00B4D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2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5120640" cy="5120640"/>
          </a:xfrm>
          <a:prstGeom prst="rect">
            <a:avLst/>
          </a:prstGeom>
          <a:solidFill>
            <a:srgbClr val="18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76F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Vehicles cluster together (bus bunching)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Large service gaps form on the 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71216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800,000+ daily passengers affected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9584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Traditional headway control reacts too 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8795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One overflowed station cascades delays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05840"/>
            <a:ext cx="5394960" cy="5120640"/>
          </a:xfrm>
          <a:prstGeom prst="rect">
            <a:avLst/>
          </a:prstGeom>
          <a:solidFill>
            <a:srgbClr val="0D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D6A0"/>
                </a:solidFill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544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Prevent station slot overflow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1284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Minimize cascade queue effects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871216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Real-time speed 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529584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Purely analytical — no ML/RL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18795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Scalable: O(S×2) per tick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Background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3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2560320" cy="1554480"/>
          </a:xfrm>
          <a:prstGeom prst="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B4D8"/>
                </a:solidFill>
              </a:rPr>
              <a:t>52 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BCC"/>
                </a:solidFill>
              </a:rPr>
              <a:t>Corridor Length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560320" cy="1554480"/>
          </a:xfrm>
          <a:prstGeom prst="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0" y="10972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6D6A0"/>
                </a:solidFill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BCC"/>
                </a:solidFill>
              </a:rPr>
              <a:t>Stations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2560320" cy="1554480"/>
          </a:xfrm>
          <a:prstGeom prst="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0972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D166"/>
                </a:solidFill>
              </a:rPr>
              <a:t>800K+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BCC"/>
                </a:solidFill>
              </a:rPr>
              <a:t>Daily Passengers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005840"/>
            <a:ext cx="2560320" cy="1554480"/>
          </a:xfrm>
          <a:prstGeom prst="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0" y="10972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90E0EF"/>
                </a:solidFill>
              </a:rPr>
              <a:t>~2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BCC"/>
                </a:solidFill>
              </a:rPr>
              <a:t>Target Headway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34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Core Insight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0040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Root Cause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33756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Station slot overflow — not headway deviation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507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Old Approach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05079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Measure headway gap → react with hold/skip → too 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6402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New Approach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764024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Predict slot availability → adjust speed before arriving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7725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Key Property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477256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Proactive control eliminates the need for reactive correction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Design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4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965960" cy="1280160"/>
          </a:xfrm>
          <a:prstGeom prst="rect">
            <a:avLst/>
          </a:prstGeom>
          <a:solidFill>
            <a:srgbClr val="122036"/>
          </a:solidFill>
          <a:ln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ABBCC"/>
                </a:solidFill>
              </a:rPr>
              <a:t>Physics
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0592" y="1508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005840"/>
            <a:ext cx="1965960" cy="1280160"/>
          </a:xfrm>
          <a:prstGeom prst="rect">
            <a:avLst/>
          </a:prstGeom>
          <a:solidFill>
            <a:srgbClr val="122036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88920" y="105156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</a:rPr>
              <a:t>Smart Stops
x45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1508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005840"/>
            <a:ext cx="1965960" cy="1280160"/>
          </a:xfrm>
          <a:prstGeom prst="rect">
            <a:avLst/>
          </a:prstGeom>
          <a:solidFill>
            <a:srgbClr val="122036"/>
          </a:solidFill>
          <a:ln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0" y="105156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0E0EF"/>
                </a:solidFill>
              </a:rPr>
              <a:t>Stop
Coordination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2" y="1508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59" y="1005840"/>
            <a:ext cx="1965960" cy="1280160"/>
          </a:xfrm>
          <a:prstGeom prst="rect">
            <a:avLst/>
          </a:prstGeom>
          <a:solidFill>
            <a:srgbClr val="122036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52359" y="105156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D6A0"/>
                </a:solidFill>
              </a:rPr>
              <a:t>Speed
Commands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5751" y="1508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1005840"/>
            <a:ext cx="1965960" cy="1280160"/>
          </a:xfrm>
          <a:prstGeom prst="rect">
            <a:avLst/>
          </a:prstGeom>
          <a:solidFill>
            <a:srgbClr val="12203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80" y="105156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166"/>
                </a:solidFill>
              </a:rPr>
              <a:t>Live
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5146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Design Principles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88036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3017520"/>
            <a:ext cx="5577840" cy="128016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3017520"/>
            <a:ext cx="9144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108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Purely Analytical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204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Deterministic kinematic formulas — no ML, no training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017520"/>
            <a:ext cx="5577840" cy="128016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3017520"/>
            <a:ext cx="91440" cy="12801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3108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Decentralized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5204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Each stop independently manages its own zone (~1-2 vehicles)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480560"/>
            <a:ext cx="5577840" cy="128016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4480560"/>
            <a:ext cx="91440" cy="12801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572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Single Thread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9834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asyncio cooperative multitasking — simple, no race conditions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480560"/>
            <a:ext cx="5577840" cy="128016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00800" y="4480560"/>
            <a:ext cx="91440" cy="128016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4572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Forward Safety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9834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Collision prevention layer always overrides speed commands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00B4D8"/>
                </a:solidFill>
              </a:rPr>
              <a:t>How It Works I — Vehicle Movement &amp; Stations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5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783080" cy="548640"/>
          </a:xfrm>
          <a:prstGeom prst="rect">
            <a:avLst/>
          </a:prstGeom>
          <a:solidFill>
            <a:srgbClr val="101E32"/>
          </a:solidFill>
          <a:ln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6128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ABBCC"/>
                </a:solidFill>
              </a:rPr>
              <a:t>cruising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13432" y="1261872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2450592" y="1097280"/>
            <a:ext cx="1783080" cy="548640"/>
          </a:xfrm>
          <a:prstGeom prst="rect">
            <a:avLst/>
          </a:prstGeom>
          <a:solidFill>
            <a:srgbClr val="101E32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50592" y="116128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</a:rPr>
              <a:t>approaching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1104" y="1261872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8264" y="1097280"/>
            <a:ext cx="1783080" cy="548640"/>
          </a:xfrm>
          <a:prstGeom prst="rect">
            <a:avLst/>
          </a:prstGeom>
          <a:solidFill>
            <a:srgbClr val="101E32"/>
          </a:solidFill>
          <a:ln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98264" y="116128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0E0EF"/>
                </a:solidFill>
              </a:rPr>
              <a:t>docking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776" y="1261872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45936" y="1097280"/>
            <a:ext cx="1783080" cy="548640"/>
          </a:xfrm>
          <a:prstGeom prst="rect">
            <a:avLst/>
          </a:prstGeom>
          <a:solidFill>
            <a:srgbClr val="101E32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5936" y="116128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D6A0"/>
                </a:solidFill>
              </a:rPr>
              <a:t>stopped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261872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93608" y="1097280"/>
            <a:ext cx="1783080" cy="548640"/>
          </a:xfrm>
          <a:prstGeom prst="rect">
            <a:avLst/>
          </a:prstGeom>
          <a:solidFill>
            <a:srgbClr val="101E32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116128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D166"/>
                </a:solidFill>
              </a:rPr>
              <a:t>doorsClosed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4120" y="1261872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79" y="1097280"/>
            <a:ext cx="1783080" cy="548640"/>
          </a:xfrm>
          <a:prstGeom prst="rect">
            <a:avLst/>
          </a:prstGeom>
          <a:solidFill>
            <a:srgbClr val="101E32"/>
          </a:solidFill>
          <a:ln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79" y="116128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ABBCC"/>
                </a:solidFill>
              </a:rPr>
              <a:t>departing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86127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AABBCC"/>
                </a:solidFill>
              </a:rPr>
              <a:t>Vehicle Phase State Machine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1828800"/>
            <a:ext cx="5303520" cy="448056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Realistic Movement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3774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 Vehicles move with real-time physics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99923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 Smooth, comfortable acceleration &amp; braking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62102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 Each vehicle safely follows the one ahead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242816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 Stops have a limited number of platform slots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86460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 Buses enter the platform from the rear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4864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•  Full buses form a queue outside the platform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828800"/>
            <a:ext cx="5486400" cy="4480560"/>
          </a:xfrm>
          <a:prstGeom prst="rect">
            <a:avLst/>
          </a:prstGeom>
          <a:solidFill>
            <a:srgbClr val="0D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SmartStop Zone Logic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3774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1.  Each stop owns a zone [prev_stop → this_stop]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9718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2.  Filters only vehicles in its own zone (~1-2)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661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3.  Computes ETA for each approaching vehicle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1605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4.  Checks slot timeline for earliest free slot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7548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5.  Runs cost-benefit: slow down or accept queue?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3492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6.  Publishes zone state to StopInterface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How It Works II — How a Stop Makes a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6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86868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109728" cy="868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25272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1.  Who is coming?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252728"/>
            <a:ext cx="6309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Each stop watches only the few vehicles inside its own zone.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67128"/>
            <a:ext cx="10881360" cy="86868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167128"/>
            <a:ext cx="109728" cy="86868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76856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0E0EF"/>
                </a:solidFill>
              </a:rPr>
              <a:t>2.  When will a slot free up?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276856"/>
            <a:ext cx="6309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It estimates how long the buses now at the platform will stay.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91256"/>
            <a:ext cx="10881360" cy="86868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191256"/>
            <a:ext cx="109728" cy="86868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300984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166"/>
                </a:solidFill>
              </a:rPr>
              <a:t>3.  Will this bus have to wait?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300984"/>
            <a:ext cx="6309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It predicts whether the bus arrives to a free slot — or to the back of a queue.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15384"/>
            <a:ext cx="10881360" cy="86868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4215384"/>
            <a:ext cx="109728" cy="8686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325112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D6A0"/>
                </a:solidFill>
              </a:rPr>
              <a:t>4.  Is slowing down worth it?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325112"/>
            <a:ext cx="6309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It weighs the queue and the knock-on delays against a small slowdown.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239512"/>
            <a:ext cx="10881360" cy="86868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5239512"/>
            <a:ext cx="109728" cy="86868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76F"/>
                </a:solidFill>
              </a:rPr>
              <a:t>5.  Give the advice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349240"/>
            <a:ext cx="6309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If worthwhile, it suggests a speed so the bus arrives just as a slot opens — no stop-and-go.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Driver Speed-Band Advisory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7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868680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91440" cy="868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0241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Advise a holdable BAND, not a point 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ABBCC"/>
                </a:solidFill>
              </a:rPr>
              <a:t>A real driver cannot track "go 61 km/h, now 62, now 60" each second. We tell the driver "keep 60-70 km/h" — analogous to GLOSA speed advisory at traffic lights.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5349240" cy="233172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Why a Band, Not a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  •  Smoothing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1576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ignores second-to-second noise in the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3580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  •  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8269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keeps a band steady instead of changing constantly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0273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  •  Escape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4962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updates early only when the situation truly changes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965960"/>
            <a:ext cx="5349240" cy="2331720"/>
          </a:xfrm>
          <a:prstGeom prst="rect">
            <a:avLst/>
          </a:prstGeom>
          <a:solidFill>
            <a:srgbClr val="06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2057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231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00B4D8"/>
                </a:solidFill>
              </a:rPr>
              <a:t>171  → 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BCC"/>
                </a:solidFill>
              </a:rPr>
              <a:t>band changes per 60 s of simulation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No more per-second "speed up / slow down" flicker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348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Advisory Lifecycle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54880"/>
            <a:ext cx="1106424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4892040"/>
            <a:ext cx="3474720" cy="137160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4892040"/>
            <a:ext cx="3474720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SLOW DOWN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394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early arrival risks slot overflow → band drops (e.g. 50-60)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1648" y="53492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79" y="4892040"/>
            <a:ext cx="3474720" cy="137160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97679" y="4892040"/>
            <a:ext cx="34747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34839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HOLD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39" y="5394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driver keeps the band; metering happens while cruising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0687" y="53492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19" y="4892040"/>
            <a:ext cx="3474720" cy="137160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46719" y="4892040"/>
            <a:ext cx="347472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83879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D6A0"/>
                </a:solidFill>
              </a:rPr>
              <a:t>RESUME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5394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risk cleared → band climbs back to full speed (cue to speed up)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Challenges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8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1508760"/>
          </a:xfrm>
          <a:prstGeom prst="rect">
            <a:avLst/>
          </a:prstGeom>
          <a:solidFill>
            <a:srgbClr val="0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5486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0789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76F"/>
                </a:solidFill>
              </a:rPr>
              <a:t>Initial Approach: AI /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The system was initially designed using a reinforcement learning agent to learn optimal speed policies. However, training instability, lack of interpretability, and the need for large amounts of simulation data made this approach impractical for a real-time transit control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</a:rPr>
              <a:t>--&gt;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1417320"/>
            <a:ext cx="2560320" cy="1005840"/>
          </a:xfrm>
          <a:prstGeom prst="rect">
            <a:avLst/>
          </a:prstGeom>
          <a:solidFill>
            <a:srgbClr val="06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052560" y="1417320"/>
            <a:ext cx="256032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98280" y="14813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D6A0"/>
                </a:solidFill>
              </a:rPr>
              <a:t>Switched to
Analytical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19842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E0EF"/>
                </a:solidFill>
              </a:rPr>
              <a:t>Deterministic · Interpretable
No training 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5577840" cy="182880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697480"/>
            <a:ext cx="5577840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7889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Reaction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17296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Challenge:  A speed advice reaches the driver a few seconds 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675888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Solution:  We plan ahead for that delay before sending the advice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697480"/>
            <a:ext cx="5577840" cy="182880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2697480"/>
            <a:ext cx="557784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27889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Slot Reservation 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7296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Challenge:  Several buses may aim for the same free slot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675888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Solution:  Each bus reserves its slot, so the next one sees it as taken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09160"/>
            <a:ext cx="5577840" cy="182880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709160"/>
            <a:ext cx="5577840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800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76F"/>
                </a:solidFill>
              </a:rPr>
              <a:t>Physical Slot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1846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Challenge:  Empty front slots are unreachable — buses enter from the rear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687568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Solution:  We only count slots actually reachable from the back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709160"/>
            <a:ext cx="5577840" cy="182880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4709160"/>
            <a:ext cx="557784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4800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Realistic Stop Times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1846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Challenge:  A fixed stop time ignored real-world variation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687568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Solution:  We use field-measured stop times that vary trip to trip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9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09728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0058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Problem Reframed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Bus bunching is a station slot overflow problem — not a headway problem. Proactive slot-based control prevents bunching before it occurs.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109728" cy="8229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D6A0"/>
                </a:solidFill>
              </a:rPr>
              <a:t>Analytical &amp; Interpretable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Every decision follows deterministic kinematic formulas. No black-box models, no training, no data dependency.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08960"/>
            <a:ext cx="109728" cy="8229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Efficient by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747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Work stays light even with a large fleet — each stop only looks at its own handful of vehicles.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60519"/>
            <a:ext cx="109728" cy="82296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160519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0E0EF"/>
                </a:solidFill>
              </a:rPr>
              <a:t>Real-Time Capable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26279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Runs live with a real-time dashboard, on a single machine — simple to deploy, no special infrastructure needed.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12080"/>
            <a:ext cx="109728" cy="82296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212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76F"/>
                </a:solidFill>
              </a:rPr>
              <a:t>Extensible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778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Built from independent parts that can each be tested and improved on their own.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Future Work &amp;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10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64240" cy="2926080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09728" cy="292608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0789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F476F"/>
                </a:solidFill>
              </a:rPr>
              <a:t>Passenger Density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The current system has no awareness of passenger load. Integrating real-time occupancy data — both inside vehicles and on station platforms — would enable demand-aware slot scheduling and more accurate dwell time estimation.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  •  In-vehicle load: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377440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Adjust dwell time and slot priority based on passenger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  •  Platform occupancy: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880360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Detect crowded platforms early — trigger upstream slowdowns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  •  Demand prediction: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383280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Historical patterns could improve ideal arrival time estimation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14800"/>
            <a:ext cx="5577840" cy="210312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91440" cy="2103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Smarter Cascade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Account for delay that builds up across a whole chain of following buses — not just the next one — for more accurate decisions.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114800"/>
            <a:ext cx="5577840" cy="210312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4114800"/>
            <a:ext cx="91440" cy="21031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Higher-Fidelity Movement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6177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 more realistic acceleration, comfort and traffic model would sharpen both the speed advice and the decision engine further.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solidFill>
            <a:srgbClr val="00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1139</Words>
  <Application>Microsoft Office PowerPoint</Application>
  <PresentationFormat>Özel</PresentationFormat>
  <Paragraphs>182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Oğulcan Aral</cp:lastModifiedBy>
  <cp:revision>3</cp:revision>
  <dcterms:created xsi:type="dcterms:W3CDTF">2013-01-27T09:14:16Z</dcterms:created>
  <dcterms:modified xsi:type="dcterms:W3CDTF">2026-06-04T19:14:09Z</dcterms:modified>
  <cp:category/>
</cp:coreProperties>
</file>